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RNS INSTITUTE OF TECHNOLOGY, BENGALURU — DEPARTMENT OF ECE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Privacy-Preserving Through-Wall Human Activity Recognition Using WiFi-CSI Without Cameras</a:t>
            </a:r>
          </a:p>
          <a:p>
            <a:pPr>
              <a:defRPr sz="1600">
                <a:solidFill>
                  <a:srgbClr val="64748B"/>
                </a:solidFill>
              </a:defRPr>
            </a:pPr>
            <a:r>
              <a:t>ESP32-S3 Commodity Hardware • 5-Class Deep Learning • Multi-Seed Evaluation • Eldercare Fall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108960"/>
            <a:ext cx="6217920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3291840"/>
            <a:ext cx="56692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PROJECT TEAM (GROUP 10) — 2026-2027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Md Mehar Adil D H  [1RN23EC094]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Mohith Gowda M  [1RN23EC095]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Nihar Gowda  [1RN23EC106]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• Sujal L G  [1RN23EC169]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3108960"/>
            <a:ext cx="3749039" cy="2926080"/>
          </a:xfrm>
          <a:prstGeom prst="roundRect">
            <a:avLst/>
          </a:prstGeom>
          <a:solidFill>
            <a:srgbClr val="1E293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0" y="3291840"/>
            <a:ext cx="338328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ACADEMIC ADVISORY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Project Guide: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Dr. Leena Chandrashekar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Associate Professor, Dept. of ECE</a:t>
            </a:r>
          </a:p>
          <a:p>
            <a:br/>
            <a:pPr>
              <a:defRPr sz="1200">
                <a:solidFill>
                  <a:srgbClr val="64748B"/>
                </a:solidFill>
              </a:defRPr>
            </a:pPr>
            <a:r>
              <a:t>Project Reviewer:</a:t>
            </a:r>
          </a:p>
          <a:p>
            <a:pPr>
              <a:defRPr sz="1400" b="1">
                <a:solidFill>
                  <a:srgbClr val="FFFFFF"/>
                </a:solidFill>
              </a:defRPr>
            </a:pPr>
            <a:r>
              <a:t>Dr. Srikanth G 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Associate Professor, Dept. of ECE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INTRODUCTION &amp;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Motivation &amp; Problem Statement: The Case for WiFi CSI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103120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2918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1. Camera-Based Sensing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11D48"/>
                </a:solidFill>
              </a:defRPr>
            </a:pPr>
            <a:r>
              <a:t>Major Drawbacks: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Severe privacy invasion in private living spaces (bedrooms, restrooms).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Strict optical Line-of-Sight (LOS) requirement.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Completely blocked by opaque partitions, walls, and smoke.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Fails in darkness or harsh glare.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High storage and computational bandwidth for continuous video streams.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2918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2. Wearable-Based Sensing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11D48"/>
                </a:solidFill>
              </a:defRPr>
            </a:pPr>
            <a:r>
              <a:t>Major Drawbacks: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Requires active user compliance and daily recharging.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Older adults and dementia patients frequently forget or refuse devices.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Removed during sleep or bathing (where over 60% of senior falls occur!).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Skin irritation and discomfort with prolonged attachment.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Costly multi-device replacements when lost or broken.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173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3. Proposed WiFi-CSI Sensing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D9488"/>
                </a:solidFill>
              </a:defRPr>
            </a:pPr>
            <a:r>
              <a:t>Core Advantages: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100% Privacy-Preserving: Captures zero images or voice recordings.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Through-Wall Capability: 2.4 GHz RF waves penetrate drywall and brick.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Device-Free &amp; Contactless: User wears nothing and needs zero interaction.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Ultra Low Cost: Built with two ESP32-S3 boards (~INR 3,000 total).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• Multi-Purpose: Turns existing ambient Wi-Fi infrastructure into an active sensor.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RF PHYSICAL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WiFi-CSI Fundamentals: Physical Principle &amp; Multipath Propagation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103120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Frequency-Domain Channel Estimation in OFDM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D9488"/>
                </a:solidFill>
              </a:defRPr>
            </a:pPr>
            <a:r>
              <a:t>Channel Estimation Model:   Y_k = H_k · X_k + N_k   ==&gt;   Ĥ_k = Y_k / X_k</a:t>
            </a:r>
          </a:p>
          <a:p>
            <a:pPr>
              <a:defRPr sz="1200">
                <a:solidFill>
                  <a:srgbClr val="0F172A"/>
                </a:solidFill>
              </a:defRPr>
            </a:pPr>
            <a:r>
              <a:t>Wi-Fi (802.11n) transmits over orthogonal subcarriers. The receiver estimates the complex transmission coefficient H_k = |H_k| · e^(jφ_k) from the known Long Training Field (LTF) symbols in every packet preamble.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91840"/>
            <a:ext cx="52120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Multipath Decomposition &amp; Human Motion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49039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293B"/>
                </a:solidFill>
              </a:defRPr>
            </a:pPr>
            <a:r>
              <a:t>Channel Sum:   H_k(t) = H_k^s (static room) + H_k^d(t) (human)</a:t>
            </a:r>
          </a:p>
          <a:p>
            <a:pPr>
              <a:defRPr sz="1100"/>
            </a:pPr>
            <a:r>
              <a:t>• Static Paths (H^s): Reflections off stationary walls, floor, and furniture.</a:t>
            </a:r>
          </a:p>
          <a:p>
            <a:pPr>
              <a:defRPr sz="1100"/>
            </a:pPr>
            <a:r>
              <a:t>• Dynamic Path (H^d): Bounces off the moving human body.</a:t>
            </a:r>
          </a:p>
          <a:p>
            <a:pPr>
              <a:defRPr sz="1100"/>
            </a:pPr>
            <a:r>
              <a:t>• Constructive/Destructive Interference: Amplitude oscillates between |H^s| - |H^d| and |H^s| + |H^d|.</a:t>
            </a:r>
          </a:p>
          <a:p>
            <a:pPr>
              <a:defRPr sz="1100"/>
            </a:pPr>
            <a:r>
              <a:t>• Walking creates periodic cyclic swings; Falling causes an abrupt transient spike followed by a new static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91840"/>
            <a:ext cx="52120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4290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Wavelength &amp; Doppler Sensitivity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49039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D9488"/>
                </a:solidFill>
              </a:defRPr>
            </a:pPr>
            <a:r>
              <a:t>At 2.462 GHz:   λ = c / f = 3×10^8 / 2.462×10^9 ≈ 12.2 cm</a:t>
            </a:r>
          </a:p>
          <a:p>
            <a:pPr>
              <a:defRPr sz="1100"/>
            </a:pPr>
            <a:r>
              <a:t>• Phase Shift: Moving the body by λ/4 ≈ 3 cm changes the reflected round-trip path by 6 cm (λ/2 = 180° phase flip).</a:t>
            </a:r>
          </a:p>
          <a:p>
            <a:pPr>
              <a:defRPr sz="1100"/>
            </a:pPr>
            <a:r>
              <a:t>• Sub-Centimeter Sensitivity: Even subtle breathing or sitting posture changes produce detectable phase shifts.</a:t>
            </a:r>
          </a:p>
          <a:p>
            <a:pPr>
              <a:defRPr sz="1100"/>
            </a:pPr>
            <a:r>
              <a:t>• Doppler Shift: f_D = 2v / λ. Walking at 1 m/s produces a ~16 Hz Doppler fluctuation, well within our 100 Hz sampling rate.</a:t>
            </a:r>
          </a:p>
          <a:p>
            <a:pPr>
              <a:defRPr sz="1100"/>
            </a:pPr>
            <a:r>
              <a:t>• CSI vs. RSSI: RSSI is 1 scalar average; CSI provides 90 separate frequency measurements, resolving multipath.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SYSTEM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Experimental Hardware Architecture &amp; Through-Wall Testbed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103120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2918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Transmitter (TX)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/>
            </a:pPr>
            <a:r>
              <a:t>Hardware: ESP32-S3 Development Board (Xtensa LX7 @ 240 MHz).</a:t>
            </a:r>
          </a:p>
          <a:p>
            <a:pPr>
              <a:defRPr sz="1100"/>
            </a:pPr>
            <a:r>
              <a:t>Antenna: 6 dBi omnidirectional 2.4 GHz dipole antenna.</a:t>
            </a:r>
          </a:p>
          <a:p>
            <a:pPr>
              <a:defRPr sz="1100"/>
            </a:pPr>
            <a:r>
              <a:t>Protocol: ESP-NOW broadcast (connectionless, 0 association latency).</a:t>
            </a:r>
          </a:p>
          <a:p>
            <a:pPr>
              <a:defRPr sz="1100"/>
            </a:pPr>
            <a:r>
              <a:t>Rate: 100 packet send attempts/second (T = 10 ms period).</a:t>
            </a:r>
          </a:p>
          <a:p>
            <a:pPr>
              <a:defRPr sz="1100"/>
            </a:pPr>
            <a:r>
              <a:t>PHY Mode: 802.11n HT40 (40 MHz bandwidth) on Channel 11 (2.462 GHz).</a:t>
            </a:r>
          </a:p>
          <a:p>
            <a:pPr>
              <a:defRPr sz="1100"/>
            </a:pPr>
            <a:r>
              <a:t>Fixed MAC: 1A:00:00:00:00:00 (locally administered address for receiver filtering).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29184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4173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Through-Wall Testbed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2880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/>
            </a:pPr>
            <a:r>
              <a:t>Partition Obstruction: Dense visual partition board blocking optical LOS.</a:t>
            </a:r>
          </a:p>
          <a:p>
            <a:pPr>
              <a:defRPr sz="1100"/>
            </a:pPr>
            <a:r>
              <a:t>Geometry: TX on one side, person in center, RX on opposite side (~3–4 m distance).</a:t>
            </a:r>
          </a:p>
          <a:p>
            <a:pPr>
              <a:defRPr sz="1100"/>
            </a:pPr>
            <a:r>
              <a:t>Activities: Empty room, Sitting, Standing, Walking, Falling.</a:t>
            </a:r>
          </a:p>
          <a:p>
            <a:pPr>
              <a:defRPr sz="1100"/>
            </a:pPr>
            <a:r>
              <a:t>Safety Grounding: Gym crash mats for human subject safety during falling trials.</a:t>
            </a:r>
          </a:p>
          <a:p>
            <a:pPr>
              <a:defRPr sz="1100"/>
            </a:pPr>
            <a:r>
              <a:t>Why 40 MHz (HT40)?: Doubles bandwidth from 20 to 40 MHz, capturing 128 HT-LTF subcarriers for finer multipath resolution.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4173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Receiver (RX) &amp; Host PC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/>
            </a:pPr>
            <a:r>
              <a:t>Hardware: ESP32-S3 board in promiscuous Wi-Fi station mode.</a:t>
            </a:r>
          </a:p>
          <a:p>
            <a:pPr>
              <a:defRPr sz="1100"/>
            </a:pPr>
            <a:r>
              <a:t>Directional RX: 8 dBi ALFA directional patch antenna (concentrates sensitivity toward sensing area).</a:t>
            </a:r>
          </a:p>
          <a:p>
            <a:pPr>
              <a:defRPr sz="1100"/>
            </a:pPr>
            <a:r>
              <a:t>CSI Extraction: ESP-IDF `esp_wifi_set_csi_rx_cb()` hardware callback.</a:t>
            </a:r>
          </a:p>
          <a:p>
            <a:pPr>
              <a:defRPr sz="1100"/>
            </a:pPr>
            <a:r>
              <a:t>Payload: 384 bytes (192 complex I/Q subcarrier pairs per packet).</a:t>
            </a:r>
          </a:p>
          <a:p>
            <a:pPr>
              <a:defRPr sz="1100"/>
            </a:pPr>
            <a:r>
              <a:t>Serial Transport: 921,600 baud USB-serial to Host PC.</a:t>
            </a:r>
          </a:p>
          <a:p>
            <a:pPr>
              <a:defRPr sz="1100"/>
            </a:pPr>
            <a:r>
              <a:t>Offline Processing: Python signal processing pipeline and PyTorch deep neural networks.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CSI Data Engineering: From Raw Bytes to Model-Ready Tensors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103120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560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1. Validation &amp; Parsing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Keep valid CSI_DATA lines with exactly 25 comma-separated fields and 384 signed 8-bit integers.</a:t>
            </a:r>
          </a:p>
          <a:p>
            <a:br/>
            <a:pPr>
              <a:defRPr sz="1000" b="1">
                <a:solidFill>
                  <a:srgbClr val="0D9488"/>
                </a:solidFill>
              </a:defRPr>
            </a:pPr>
            <a:r>
              <a:t>Why: Rejects corrupt packets; ensures integrity.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280160"/>
            <a:ext cx="2560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14173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2. Amplitude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82880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Pair raw integers into in-phase (I) and quadrature (Q): |H_k| = sqrt(I^2 + Q^2).</a:t>
            </a:r>
          </a:p>
          <a:p>
            <a:br/>
            <a:pPr>
              <a:defRPr sz="1000" b="1">
                <a:solidFill>
                  <a:srgbClr val="0D9488"/>
                </a:solidFill>
              </a:defRPr>
            </a:pPr>
            <a:r>
              <a:t>Why: Amplitude is immune to random CFO/SFO oscillator phase drift.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280160"/>
            <a:ext cx="2560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4173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3. Null-Carrier Drop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82880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Drop zero amplitudes corresponding to DC subcarriers and guard bands (leaves ~108 valid carriers).</a:t>
            </a:r>
          </a:p>
          <a:p>
            <a:br/>
            <a:pPr>
              <a:defRPr sz="1000" b="1">
                <a:solidFill>
                  <a:srgbClr val="0D9488"/>
                </a:solidFill>
              </a:defRPr>
            </a:pPr>
            <a:r>
              <a:t>Why: Eliminates dead hardware zones.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280160"/>
            <a:ext cx="25603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417319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4. Resampling to 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1828800"/>
            <a:ext cx="2377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Piecewise linear interpolation maps active subcarriers onto 90 standardized positions.</a:t>
            </a:r>
          </a:p>
          <a:p>
            <a:br/>
            <a:pPr>
              <a:defRPr sz="1000" b="1">
                <a:solidFill>
                  <a:srgbClr val="0D9488"/>
                </a:solidFill>
              </a:defRPr>
            </a:pPr>
            <a:r>
              <a:t>Why: Guarantees fixed tensor dimension across all packets.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10698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526280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Temporal Windowing &amp; Model Input Shape: [Batch, 1, 250, 90]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4632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Window Length W = 250 packets (~2.5 seconds @ 100 Hz)   |   Stride S = 50 packets (0.5 second advance, 80% overlap)</a:t>
            </a:r>
          </a:p>
          <a:p>
            <a:pPr>
              <a:defRPr sz="1100"/>
            </a:pPr>
            <a:r>
              <a:t>• 2.5 seconds of context captures complete sit-to-stand transitions, several walking strides, or a complete fall-and-rest sequence.</a:t>
            </a:r>
            <a:br/>
            <a:r>
              <a:t>• Overlap multiplies training samples and prevents critical events from being severed at window boundaries.</a:t>
            </a:r>
            <a:br/>
            <a:r>
              <a:t>• Final model-ready tensor per sample: 250 time packets × 90 amplitude features.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REPRODUCIBILITY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Critical Scientific Audit: Discovering Window-Level Data Leakage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103120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The Overlap Leakage Diagnosis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11D48"/>
                </a:solidFill>
              </a:defRPr>
            </a:pPr>
            <a:r>
              <a:t>Critical Audit Finding:</a:t>
            </a:r>
          </a:p>
          <a:p>
            <a:pPr>
              <a:defRPr sz="1100"/>
            </a:pPr>
            <a:r>
              <a:t>• The legacy dataset had 2,241 windows created with stride 50 (80% overlap = 200 packets shared between adjacent windows).</a:t>
            </a:r>
          </a:p>
          <a:p>
            <a:pPr>
              <a:defRPr sz="1100"/>
            </a:pPr>
            <a:r>
              <a:t>• The 70/15/15 train/val/test split was performed AT THE WINDOW LEVEL.</a:t>
            </a:r>
          </a:p>
          <a:p>
            <a:pPr>
              <a:defRPr sz="1100"/>
            </a:pPr>
            <a:r>
              <a:t>• Consequently, Window i in Train shared 80% of identical raw packets with Window i+1 in Test!</a:t>
            </a:r>
          </a:p>
          <a:p>
            <a:pPr>
              <a:defRPr sz="1100"/>
            </a:pPr>
            <a:r>
              <a:t>• Over 90% of test windows had near-identical sister windows in the training set.</a:t>
            </a:r>
          </a:p>
          <a:p>
            <a:pPr>
              <a:defRPr sz="1100"/>
            </a:pPr>
            <a:r>
              <a:t>• The model easily achieved 97%–98% test accuracy by interpolating adjacent frames and memorizing the room's static multipath fingerprint.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Empirical Proof: Generalization Collapse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1E293B"/>
                </a:solidFill>
              </a:defRPr>
            </a:pPr>
            <a:r>
              <a:t>Testing 97.63% Checkpoint on 25 Unseen Recordings:</a:t>
            </a:r>
          </a:p>
          <a:p>
            <a:pPr>
              <a:defRPr sz="1100"/>
            </a:pPr>
            <a:r>
              <a:t>• We collected 25 new unseen recording sessions in `live_recordings/`.</a:t>
            </a:r>
          </a:p>
          <a:p>
            <a:pPr>
              <a:defRPr sz="1100"/>
            </a:pPr>
            <a:r>
              <a:t>• When evaluated on these unseen recordings, accuracy collapsed from 97.63% to 20.55% (no better than random guessing across 5 classes!).</a:t>
            </a:r>
          </a:p>
          <a:p>
            <a:pPr>
              <a:defRPr sz="1100"/>
            </a:pPr>
            <a:r>
              <a:t>• Recording-level majority vote accuracy: only 20.00% (5 of 25 correct).</a:t>
            </a:r>
          </a:p>
          <a:p>
            <a:pPr>
              <a:defRPr sz="1100"/>
            </a:pPr>
            <a:r>
              <a:t>• Why? Receiver Automatic Gain Control (AGC) shifted amplitude ranges (max jumped from 25.88 to 277.19), saturating uncalibrated inputs.</a:t>
            </a:r>
          </a:p>
          <a:p>
            <a:pPr>
              <a:defRPr sz="1100"/>
            </a:pPr>
            <a:r>
              <a:t>• Conclusion: Prior 98% accuracy claims measured memorization, not true generalized through-wall sensing.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DATA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Dataset Enrichment &amp; The Leakage-Resistant Grouped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103120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Dataset Expansion: 51 Original Recordings + 25 New Recordings = 76 Sessions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onsolas"/>
              </a:defRPr>
            </a:pPr>
            <a:r>
              <a:t>Class       | Original Files | Original Windows | New Files | New Windows | Total Files | Total Windows | Class Share</a:t>
            </a:r>
            <a:br/>
            <a:r>
              <a:t>Empty       | 20             | 841              | 5         | 118         | 25          | 959           | 34.4%</a:t>
            </a:r>
            <a:br/>
            <a:r>
              <a:t>Sitting     | 10             | 471              | 5         | 108         | 15          | 579           | 20.7%</a:t>
            </a:r>
            <a:br/>
            <a:r>
              <a:t>Standing    | 9              | 409              | 5         | 92          | 14          | 501           | 18.0%</a:t>
            </a:r>
            <a:br/>
            <a:r>
              <a:t>Walking     | 11             | 477              | 5         | 125         | 16          | 602           | 21.6%</a:t>
            </a:r>
            <a:br/>
            <a:r>
              <a:t>Falling (!) | 1              | 43               | 5         | 107         | 6           | 150           | 5.4%</a:t>
            </a:r>
            <a:br/>
            <a:r>
              <a:t>Total       | 51             | 2,241            | 25        | 550         | 76          | 2,791         | 100.0%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062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The Recording-Grouped Protocol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Recording-Level Quarantine: Entire CSV files are assigned to Train, Val, or Test BEFORE windowing.</a:t>
            </a:r>
            <a:br/>
            <a:r>
              <a:t>• Strictly Zero Overlap: 0% packet sharing between train and test sets.</a:t>
            </a:r>
            <a:br/>
            <a:r>
              <a:t>• Train: 53 files (1,945 windows) | Val: 11 files (369 windows) | Test: 12 files (477 windows).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20624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3434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Train-Only Normalization &amp; Class Weights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6634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Scaling statistics (min, max, μ, σ) are computed EXCLUSIVELY on training recordings and frozen for test and live inference.</a:t>
            </a:r>
            <a:br/>
            <a:r>
              <a:t>• Falling Class Weighting: w_c = N / (C · N_c) assigns a 3.78× loss penalty to missed falls, preventing the model from ignoring the minority class.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DEEP LEARNING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Model Evolution: Grounding Neural Networks in RF Physics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103120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1. The Crucial Input Layout Correction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11D48"/>
                </a:solidFill>
              </a:defRPr>
            </a:pPr>
            <a:r>
              <a:t>The Wrong Layout [B, 250, 90]:</a:t>
            </a:r>
          </a:p>
          <a:p>
            <a:pPr>
              <a:defRPr sz="1100"/>
            </a:pPr>
            <a:r>
              <a:t>• PyTorch Conv1D treats dimension 1 as channels.</a:t>
            </a:r>
            <a:br/>
            <a:r>
              <a:t>• [B, 250, 90] treated 250 time packets as unordered channels and slid filters across the 90 subcarriers.</a:t>
            </a:r>
            <a:br/>
            <a:r>
              <a:t>• Temporal order was destroyed in the first layer! Accuracy capped at 91.10%.</a:t>
            </a:r>
          </a:p>
          <a:p>
            <a:br/>
            <a:pPr>
              <a:defRPr b="1" sz="1200">
                <a:solidFill>
                  <a:srgbClr val="0D9488"/>
                </a:solidFill>
              </a:defRPr>
            </a:pPr>
            <a:r>
              <a:t>The Correct Layout [B, 90, 250]:</a:t>
            </a:r>
          </a:p>
          <a:p>
            <a:pPr>
              <a:defRPr sz="1100"/>
            </a:pPr>
            <a:r>
              <a:t>• Permute tensor to [B, 90, 250].</a:t>
            </a:r>
            <a:br/>
            <a:r>
              <a:t>• 90 CSI subcarriers are channels; Conv1D slides along 250 time steps.</a:t>
            </a:r>
            <a:br/>
            <a:r>
              <a:t>• Acts as a learned temporal filter bank detecting Doppler oscillations across frequency.</a:t>
            </a:r>
            <a:br/>
            <a:r>
              <a:t>• Single change increased accuracy from 91.10% to 97.63%!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2. Original Baseline: CNN-BiLSTM (319k Params)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/>
            </a:pPr>
            <a:r>
              <a:t>Layer-by-Layer Architecture:</a:t>
            </a:r>
          </a:p>
          <a:p>
            <a:pPr>
              <a:defRPr sz="1100"/>
            </a:pPr>
            <a:r>
              <a:t>• Input: [B, 1, 250, 90] -&gt; squeeze + permute -&gt; [B, 90, 250]</a:t>
            </a:r>
          </a:p>
          <a:p>
            <a:pPr>
              <a:defRPr sz="1100"/>
            </a:pPr>
            <a:r>
              <a:t>• Conv1D 1: 90 -&gt; 64 channels (kernel 5, padding 2) + BN + ReLU (28,864 params)</a:t>
            </a:r>
          </a:p>
          <a:p>
            <a:pPr>
              <a:defRPr sz="1100"/>
            </a:pPr>
            <a:r>
              <a:t>• Conv1D 2: 64 -&gt; 128 channels (kernel 3, padding 1) + BN + ReLU (24,704 params)</a:t>
            </a:r>
          </a:p>
          <a:p>
            <a:pPr>
              <a:defRPr sz="1100"/>
            </a:pPr>
            <a:r>
              <a:t>• MaxPool1D: kernel 2, stride 2 (halves time: 250 -&gt; 125 steps)</a:t>
            </a:r>
          </a:p>
          <a:p>
            <a:pPr>
              <a:defRPr sz="1100"/>
            </a:pPr>
            <a:r>
              <a:t>• BiLSTM: input 128, hidden 128, 1 layer (2 directions: 264,192 params)</a:t>
            </a:r>
          </a:p>
          <a:p>
            <a:pPr>
              <a:defRPr sz="1100"/>
            </a:pPr>
            <a:r>
              <a:t>• Concat States: ht[-2] (forward) + ht[-1] (backward) = 256 features</a:t>
            </a:r>
          </a:p>
          <a:p>
            <a:pPr>
              <a:defRPr sz="1100"/>
            </a:pPr>
            <a:r>
              <a:t>• Classifier: Dropout(0.1) + Linear(256 -&gt; 5) (1,285 params)</a:t>
            </a:r>
          </a:p>
          <a:p>
            <a:pPr>
              <a:defRPr sz="1100"/>
            </a:pPr>
            <a:r>
              <a:t>• Total Parameters: 319,429 | Historical Acc: 96.54% ± 2.03%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ARCHITECTURAL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Proposed Novel Architectures: MS-CNN-BiGRU &amp; SE-TCN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103120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Proposed 1: MS-CNN-BiGRU (188k Params)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D9488"/>
                </a:solidFill>
              </a:defRPr>
            </a:pPr>
            <a:r>
              <a:t>Multi-Scale Temporal Filter Bank:</a:t>
            </a:r>
          </a:p>
          <a:p>
            <a:pPr>
              <a:defRPr sz="1100"/>
            </a:pPr>
            <a:r>
              <a:t>• Multi-Scale Convolutions: Parallel branches with kernels k=3 (30 ms fall spikes), k=5 (walking cadence), and k=7 (slow posture shifts).</a:t>
            </a:r>
          </a:p>
          <a:p>
            <a:pPr>
              <a:defRPr sz="1100"/>
            </a:pPr>
            <a:r>
              <a:t>• Subcarrier SE Attention: Squeeze-and-Excitation dynamically suppresses low-SNR fading notch subcarriers.</a:t>
            </a:r>
          </a:p>
          <a:p>
            <a:pPr>
              <a:defRPr sz="1100"/>
            </a:pPr>
            <a:r>
              <a:t>• Bidirectional GRU (hidden 96): Eliminates separate cell state, saving 33% recurrent parameters.</a:t>
            </a:r>
          </a:p>
          <a:p>
            <a:pPr>
              <a:defRPr sz="1100"/>
            </a:pPr>
            <a:r>
              <a:t>• Parameter Reduction: 188,673 params (41% smaller than 319k baseline).</a:t>
            </a:r>
          </a:p>
          <a:p>
            <a:pPr>
              <a:defRPr sz="1100"/>
            </a:pPr>
            <a:r>
              <a:t>• Legacy Test Accuracy: 97.09% ± 0.95% (cuts baseline variance in half!).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Proposed 2: SE-TCN Champion (110k Params)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0B981"/>
                </a:solidFill>
              </a:defRPr>
            </a:pPr>
            <a:r>
              <a:t>Non-Recurrent Dilated Temporal Network:</a:t>
            </a:r>
          </a:p>
          <a:p>
            <a:pPr>
              <a:defRPr sz="1100"/>
            </a:pPr>
            <a:r>
              <a:t>• Fully Convolutional: No recurrent bottlenecks; fully parallelized on CPU with 2.75 ms latency.</a:t>
            </a:r>
          </a:p>
          <a:p>
            <a:pPr>
              <a:defRPr sz="1100"/>
            </a:pPr>
            <a:r>
              <a:t>• Exponential Dilations (d = 1, 2, 4, 8): Receptive field spans the entire 2.5s window without vanishing gradients.</a:t>
            </a:r>
          </a:p>
          <a:p>
            <a:pPr>
              <a:defRPr sz="1100"/>
            </a:pPr>
            <a:r>
              <a:t>• Global Average Pooling: Eliminates dense linear parameters and prevents temporal boundary overfitting.</a:t>
            </a:r>
          </a:p>
          <a:p>
            <a:pPr>
              <a:defRPr sz="1100"/>
            </a:pPr>
            <a:r>
              <a:t>• Extreme Efficiency: Only 110,165 parameters (65.5% smaller than baseline).</a:t>
            </a:r>
          </a:p>
          <a:p>
            <a:pPr>
              <a:defRPr sz="1100"/>
            </a:pPr>
            <a:r>
              <a:t>• Unseen Session Accuracy: 58.57% ± 2.64% (+9.18% higher than CNN-BiLSTM on true generalization!).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EMPIRICAL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Experimental Results: Controlled Multi-Seed 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103120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Multi-Seed Benchmark: Legacy Split vs. Leakage-Free Grouped Split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latin typeface="Consolas"/>
              </a:defRPr>
            </a:pPr>
            <a:r>
              <a:t>Model               | Parameters | Latency | Legacy Random Split Acc | Grouped Leakage-Free Acc | Grouped Bal. Acc | Grouped Fall Recall</a:t>
            </a:r>
            <a:br/>
            <a:r>
              <a:t>MLP                 | 11,588,101 | 1.37 ms | 89.91%                  | 46.33%                   | 39.67%           | 26.32%</a:t>
            </a:r>
            <a:br/>
            <a:r>
              <a:t>LeNet (2D CNN)      | 163,813    | 4.00 ms | 96.44%                  | 52.41%                   | 42.23%           | 0.00% (Blind to falls)</a:t>
            </a:r>
            <a:br/>
            <a:r>
              <a:t>BiLSTM              | 80,517     | 1.56 ms | 72.11%                  | 41.93%                   | 48.67%           | 94.74% (Severe false alarms)</a:t>
            </a:r>
            <a:br/>
            <a:r>
              <a:t>CNN_GRU             | 153,669    | 2.76 ms | 97.63%                  | 45.28%                   | 35.39%           | 0.00% (Blind to falls)</a:t>
            </a:r>
            <a:br/>
            <a:r>
              <a:t>CNN_BiLSTM (Base)   | 319,429    | 2.39 ms | 94.36% ± 2.16%          | 49.39% ± 3.89%           | 46.26%           | 45.26%</a:t>
            </a:r>
            <a:br/>
            <a:r>
              <a:t>MS_CNN_BiGRU (Ours) | 188,673    | 12.8 ms | 97.09% ± 0.95%          | 50.02% ± 4.63%           | 45.28%           | 29.47%</a:t>
            </a:r>
            <a:br/>
            <a:r>
              <a:t>SE_TCN (Champion)   | 110,165    | 2.75 ms | 97.15% ± 0.61%          | 58.57% ± 2.64% (Best 62%)| 55.46%           | 47.37%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Ablation A: Loss Function for Fall Sensitivity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Standard Cross-Entropy: Fall Recall = 10.53% (missed 17 of 19 falls!).</a:t>
            </a:r>
            <a:br/>
            <a:r>
              <a:t>• Class-Weighted CE: Fall Recall = 15.79% (Macro-F1 improves to 0.4874).</a:t>
            </a:r>
            <a:br/>
            <a:r>
              <a:t>• Focal Loss (γ = 2.0): Fall Recall = 31.58% (3× higher fall sensitivity!).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389120"/>
            <a:ext cx="52120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5262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Ablation B: Normalization Scheme Stability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84632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• Train Min-Max: 58.07% accuracy across unseen recordings.</a:t>
            </a:r>
            <a:br/>
            <a:r>
              <a:t>• Z-Score Standardization ((x - μ)/σ): 58.49% accuracy (best gain stability).</a:t>
            </a:r>
            <a:br/>
            <a:r>
              <a:t>• Dynamic Demean (x - x_mean): 49.27% (confirms static baseline carries sitting/standing height profile).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LITERATURE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Literature Comparison: Strohmayer &amp; Kampel (2023) vs. Our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103120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Base Paper: Strohmayer &amp; Kampel (ICVS 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/>
            </a:pPr>
            <a:r>
              <a:t>Hardware: 2× ESP32 with hand-built copper biquad antennas.</a:t>
            </a:r>
          </a:p>
          <a:p>
            <a:pPr>
              <a:defRPr sz="1100"/>
            </a:pPr>
            <a:r>
              <a:t>Radio: ESP-NOW broadcast @ 100 Hz, 20 MHz bandwidth (52 L-LTF subcarriers).</a:t>
            </a:r>
          </a:p>
          <a:p>
            <a:pPr>
              <a:defRPr sz="1100"/>
            </a:pPr>
            <a:r>
              <a:t>Environment: 18 m hallway through 4 structural brick walls.</a:t>
            </a:r>
          </a:p>
          <a:p>
            <a:pPr>
              <a:defRPr sz="1100"/>
            </a:pPr>
            <a:r>
              <a:t>Task: 3 coarse classes: Empty, Walking, Walk+Wave.</a:t>
            </a:r>
          </a:p>
          <a:p>
            <a:pPr>
              <a:defRPr sz="1100"/>
            </a:pPr>
            <a:r>
              <a:t>Model: EfficientNetV2-S (2D Image CNN with ~20 Million parameters).</a:t>
            </a:r>
          </a:p>
          <a:p>
            <a:pPr>
              <a:defRPr sz="1100"/>
            </a:pPr>
            <a:r>
              <a:t>Reported Result: 97.43% ± 1.1% (LOS) / 88.16% ± 4.6% (Through 4 walls).</a:t>
            </a:r>
          </a:p>
          <a:p>
            <a:pPr>
              <a:defRPr sz="1100"/>
            </a:pPr>
            <a:r>
              <a:t>Key Limitation: Heavy 20M parameter model; only 3 coarse dynamic movements; no fall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Our Work: ESP32-S3 + SE-TCN / MS-CNN-BiGRU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/>
            </a:pPr>
            <a:r>
              <a:t>Hardware: 2× ESP32-S3 boards with 6 dBi omni TX and 8 dBi patch RX.</a:t>
            </a:r>
          </a:p>
          <a:p>
            <a:pPr>
              <a:defRPr sz="1100"/>
            </a:pPr>
            <a:r>
              <a:t>Radio: ESP-NOW broadcast @ 100 Hz, 40 MHz HT40 (192 subcarrier entries -&gt; 90 features).</a:t>
            </a:r>
          </a:p>
          <a:p>
            <a:pPr>
              <a:defRPr sz="1100"/>
            </a:pPr>
            <a:r>
              <a:t>Environment: Short range through opaque visual partition board.</a:t>
            </a:r>
          </a:p>
          <a:p>
            <a:pPr>
              <a:defRPr sz="1100"/>
            </a:pPr>
            <a:r>
              <a:t>Task: 5 fine-grained classes: Empty, Sitting, Standing, Walking, Falling.</a:t>
            </a:r>
          </a:p>
          <a:p>
            <a:pPr>
              <a:defRPr sz="1100"/>
            </a:pPr>
            <a:r>
              <a:t>Model: SE-TCN (110k params) &amp; MS-CNN-BiGRU (188k params) — 180× more compact!</a:t>
            </a:r>
          </a:p>
          <a:p>
            <a:pPr>
              <a:defRPr sz="1100"/>
            </a:pPr>
            <a:r>
              <a:t>Results: 97.15% ± 0.61% (Legacy split) / 58.57% ± 2.64% (Unseen sessions).</a:t>
            </a:r>
          </a:p>
          <a:p>
            <a:pPr>
              <a:defRPr sz="1100"/>
            </a:pPr>
            <a:r>
              <a:t>Defense Point: We do not claim our model outperforms Strohmayer; our setup evaluates a harder 5-class problem at 180× smaller model size.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DEPLOYMENT &amp; VIVA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Live Inference Pipeline, Practical Limitations &amp; Future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274320"/>
            <a:ext cx="2103120" cy="457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Speaker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Live Streaming Inference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D9488"/>
                </a:solidFill>
              </a:defRPr>
            </a:pPr>
            <a:r>
              <a:t>Operational Architecture:</a:t>
            </a:r>
          </a:p>
          <a:p>
            <a:pPr>
              <a:defRPr sz="1100"/>
            </a:pPr>
            <a:r>
              <a:t>• FIFO Buffer: Maintains rolling queue of the latest 250 packets (~2.5s).</a:t>
            </a:r>
          </a:p>
          <a:p>
            <a:pPr>
              <a:defRPr sz="1100"/>
            </a:pPr>
            <a:r>
              <a:t>• Pipeline Consistency: Applies exact amplitude extraction, null-drop, interpolation to 90 features, and training-fitted normalization.</a:t>
            </a:r>
          </a:p>
          <a:p>
            <a:pPr>
              <a:defRPr sz="1100"/>
            </a:pPr>
            <a:r>
              <a:t>• Inference Cadence: Evaluates every 50 packets (0.5s stride) with 2.75 ms compute latency.</a:t>
            </a:r>
          </a:p>
          <a:p>
            <a:pPr>
              <a:defRPr sz="1100"/>
            </a:pPr>
            <a:r>
              <a:t>• Prediction Smoothing: 3-window majority vote prevents visual flickering.</a:t>
            </a:r>
          </a:p>
          <a:p>
            <a:pPr>
              <a:defRPr sz="1100"/>
            </a:pPr>
            <a:r>
              <a:t>• Eldercare Fall Alert: Triggers emergency dispatch alert when P(Falling) &gt;= 0.50 followed by prolonged stillness.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Honest Limitations &amp; Project 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293B"/>
                </a:solidFill>
              </a:defRPr>
            </a:pPr>
            <a:r>
              <a:t>Limitations &amp; Future Roadmap:</a:t>
            </a:r>
          </a:p>
          <a:p>
            <a:pPr>
              <a:defRPr sz="1100"/>
            </a:pPr>
            <a:r>
              <a:t>• Cross-Environment Domain Shift: Tested in single room; moving furniture changes static multipath (addressed via few-shot fine-tuning).</a:t>
            </a:r>
          </a:p>
          <a:p>
            <a:pPr>
              <a:defRPr sz="1100"/>
            </a:pPr>
            <a:r>
              <a:t>• Multi-Person Interference: Superimposed reflections require multi-antenna Angle-of-Arrival (AoA) decomposition.</a:t>
            </a:r>
          </a:p>
          <a:p>
            <a:pPr>
              <a:defRPr sz="1100"/>
            </a:pPr>
            <a:r>
              <a:t>• Phase Sanitization: Adding sanitized phase differences between packets is listed as future work.</a:t>
            </a:r>
          </a:p>
          <a:p>
            <a:pPr>
              <a:defRPr sz="1100"/>
            </a:pPr>
            <a:r>
              <a:t>• Microcontroller Quantization: At 110k parameters, SE_TCN is ready for INT8 quantization on the ESP32-S3's 8 MB PSRAM.</a:t>
            </a:r>
          </a:p>
          <a:p>
            <a:pPr>
              <a:defRPr sz="1100"/>
            </a:pPr>
            <a:r>
              <a:t>• Conclusion: Validated that commodity ESP32-S3 Wi-Fi provides a robust, privacy-preserving, camera-free sensing modality.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03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br/>
            <a:pPr algn="ctr">
              <a:defRPr sz="1800">
                <a:solidFill>
                  <a:srgbClr val="0D9488"/>
                </a:solidFill>
              </a:defRPr>
            </a:pPr>
            <a:r>
              <a:t>Privacy-Preserving Through-Wall Human Activity Recognition Using WiFi-CSI</a:t>
            </a:r>
          </a:p>
          <a:p>
            <a:pPr algn="ctr">
              <a:defRPr sz="1400">
                <a:solidFill>
                  <a:srgbClr val="64748B"/>
                </a:solidFill>
              </a:defRPr>
            </a:pPr>
            <a:r>
              <a:t>Group 10 • Dept. of ECE, RNS Institute of Technology • 2026-2027</a:t>
            </a:r>
            <a:br/>
            <a:r>
              <a:t>Questions &amp; Panel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